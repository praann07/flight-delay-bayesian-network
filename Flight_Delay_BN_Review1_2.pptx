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Arial"/>
              </a:rPr>
              <a:t>Value of Information by Factor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Information gain (bits)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Day Type</c:v>
                  </c:pt>
                  <c:pt idx="1">
                    <c:v>Origin</c:v>
                  </c:pt>
                  <c:pt idx="2">
                    <c:v>Season</c:v>
                  </c:pt>
                  <c:pt idx="3">
                    <c:v>Airline</c:v>
                  </c:pt>
                  <c:pt idx="4">
                    <c:v>Time of Day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0.0003</c:v>
                </c:pt>
                <c:pt idx="1">
                  <c:v>0.0011</c:v>
                </c:pt>
                <c:pt idx="2">
                  <c:v>0.0055</c:v>
                </c:pt>
                <c:pt idx="3">
                  <c:v>0.0061</c:v>
                </c:pt>
                <c:pt idx="4">
                  <c:v>0.0209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6B72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8DC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REASONING — PROJECT REVIEW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Delay Risk Assessment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Cascade Diagnosis using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Networks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5074920"/>
            <a:ext cx="18288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57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Charith Dasari  (CB.SC.U4AIE24014)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Mamidala Som Praneeth Babu  (CB.SC.U4AIE24029)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15  ·  22AIE301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865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3865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898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/ Research Gaps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410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410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9227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9227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Overall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BN — Concept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946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9469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BN — On Our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Inference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3865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23865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Learning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2898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What-If Reasoning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3410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66560" y="3410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39227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39227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4434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late flight rarely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one late flight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and passengers can see whether a specific flight is likely delayed. What's missing is visibility into how that delay moves through the system — the same aircraft's next flight, and the flight after that.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Bayesian Network — a probabilistic reasoning model — to estimate delay risk from real conditions, trace how a delay propagates to connected flights, and reason backward from an observed delay to its most likely cause.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75120" y="3383280"/>
            <a:ext cx="822960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315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0" y="2651760"/>
            <a:ext cx="822960" cy="155448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4315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966960" y="1920240"/>
            <a:ext cx="822960" cy="22860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0" y="4315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4206240"/>
            <a:ext cx="4023360" cy="0"/>
          </a:xfrm>
          <a:prstGeom prst="line">
            <a:avLst/>
          </a:prstGeom>
          <a:noFill/>
          <a:ln w="15875">
            <a:solidFill>
              <a:srgbClr val="D8DC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delay-risk build-up, same aircraft, one day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1920240"/>
            <a:ext cx="0" cy="4206240"/>
          </a:xfrm>
          <a:prstGeom prst="line">
            <a:avLst/>
          </a:prstGeom>
          <a:noFill/>
          <a:ln w="12700">
            <a:solidFill>
              <a:srgbClr val="D8DC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work already shows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&amp; Delay Propagation Analysis (BN)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arrival/departure delay distributions with under 15 min MAE using the same 2015 DOT dataset.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6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1488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Characterization of Delay Propagation in Air Traffic Networks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delay propagation network using Bayesian Networks; separates primary vs. propagated delay.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6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605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&amp; Law (2019), Transportation Research Part 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delay propagation via shared resource connections (aircraft, crew) in an airline network.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97764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1605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of Research on Flight Delay Propagation (2025)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BN-based approaches; confirms same-aircraft arrival delay strongly shapes next-flight delay.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/ RESEARCH GAPS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 from the literature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propagation is well studied, but published work reports it as a static research metric (MAE, RMSE) in a journal — not as something a person can query, in real time, for a specific flight.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23317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demos live backward diagnostic reasoning — 'was this delay inherited or fresh?' — or value-of-information ranking — 'what's most worth knowing first?' as an interactive, queryable tool.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10972800" cy="0"/>
          </a:xfrm>
          <a:prstGeom prst="line">
            <a:avLst/>
          </a:prstGeom>
          <a:noFill/>
          <a:ln w="12700">
            <a:solidFill>
              <a:srgbClr val="D8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572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 turns a published methodology into a queryable reasoning tool — not a new algorithm, a new interface to the reasoning.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058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 risk —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airline, season, time of day, and origin airport — evaluated via accuracy, precision, and recall.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28803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cascade propagation —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flight's delay shifts the probability of delay on that aircraft's next flight.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51560" y="38404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backward —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observed delay, infer whether it was inherited from an earlier flight or newly caused.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51560" y="4800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value of information —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which unknown factor would most reduce uncertainty about a flight's risk.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OVERALL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Discrete Bayesian Network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reasoning module: Discrete Bayesian Network (pgmpy) over categorical flight-condition variables.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Flight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(DOT)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50592" y="2784348"/>
            <a:ext cx="23774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2715768" y="233172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B2430"/>
          </a:solidFill>
          <a:ln/>
        </p:spPr>
      </p:sp>
      <p:sp>
        <p:nvSpPr>
          <p:cNvPr id="9" name="Text 7"/>
          <p:cNvSpPr/>
          <p:nvPr/>
        </p:nvSpPr>
        <p:spPr>
          <a:xfrm>
            <a:off x="2715768" y="2331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model)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2784348"/>
            <a:ext cx="23774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1" name="Shape 9"/>
          <p:cNvSpPr/>
          <p:nvPr/>
        </p:nvSpPr>
        <p:spPr>
          <a:xfrm>
            <a:off x="4882896" y="233172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B2430"/>
          </a:solidFill>
          <a:ln/>
        </p:spPr>
      </p:sp>
      <p:sp>
        <p:nvSpPr>
          <p:cNvPr id="12" name="Text 10"/>
          <p:cNvSpPr/>
          <p:nvPr/>
        </p:nvSpPr>
        <p:spPr>
          <a:xfrm>
            <a:off x="4882896" y="2331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BN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(propagation)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84848" y="2784348"/>
            <a:ext cx="23774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4" name="Shape 12"/>
          <p:cNvSpPr/>
          <p:nvPr/>
        </p:nvSpPr>
        <p:spPr>
          <a:xfrm>
            <a:off x="7050024" y="233172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B2430"/>
          </a:solidFill>
          <a:ln/>
        </p:spPr>
      </p:sp>
      <p:sp>
        <p:nvSpPr>
          <p:cNvPr id="15" name="Text 13"/>
          <p:cNvSpPr/>
          <p:nvPr/>
        </p:nvSpPr>
        <p:spPr>
          <a:xfrm>
            <a:off x="7050024" y="2331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51976" y="2784348"/>
            <a:ext cx="23774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7" name="Shape 15"/>
          <p:cNvSpPr/>
          <p:nvPr/>
        </p:nvSpPr>
        <p:spPr>
          <a:xfrm>
            <a:off x="9217152" y="233172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9217152" y="2331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5.8M real DOT flight records, verified for signal before use.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15768" y="36576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Airline, season, time of day, origin airport → delay probability.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82896" y="36576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Same-aircraft consecutive flights linked by tail number.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50024" y="36576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trained model queried in reverse — cause diagnosis.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17152" y="36576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Entropy-based ranking of which factor to learn next.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BAYESIAN NETWORK —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isn't a single event 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chain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network scores one flight at one point in time. The Cascading Bayesian Network is a second, separate model — it links a flight's own delay outcome to the delay outcome of the very next flight flown by the same aircraft.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nodes, one edge: CURRENT_DELAY → NEXT_DELAY. Chained across an aircraft's full day, the same edge repeats flight after flight — so a delay on leg 1 can shape risk on leg 2, leg 3, and beyond.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22592" y="2130552"/>
            <a:ext cx="1133856" cy="11338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2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22592" y="213055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25712" y="2130552"/>
            <a:ext cx="1133856" cy="11338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25712" y="213055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56448" y="2697480"/>
            <a:ext cx="96926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565392" y="3493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Cascade BN — a directed edge between two states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47104" y="4261104"/>
            <a:ext cx="621792" cy="621792"/>
          </a:xfrm>
          <a:prstGeom prst="ellipse">
            <a:avLst/>
          </a:prstGeom>
          <a:solidFill>
            <a:srgbClr val="1B2430"/>
          </a:solidFill>
          <a:ln w="19050">
            <a:solidFill>
              <a:srgbClr val="1B2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42611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68896" y="4572000"/>
            <a:ext cx="61264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81544" y="4261104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4" y="42611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03336" y="4572000"/>
            <a:ext cx="61264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15984" y="4261104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15984" y="42611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23960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37776" y="4572000"/>
            <a:ext cx="61264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250424" y="4261104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50424" y="42611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5166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edge, applied repeatedly — one aircraft's day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BAYESIAN NETWORK — ON OUR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built it from real flights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all 5.8M flights by TAIL_NUMBER — 4,897 real aircraft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aircraft's flights by month, day, scheduled departure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each flight with the next one flown by that same aircraft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6027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6027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both legs OnTime / Delayed, keep only real, complete pairs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2702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5,724,299 real chained flight pairs — no synthetic rows.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REAL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057400"/>
            <a:ext cx="1828800" cy="502920"/>
          </a:xfrm>
          <a:prstGeom prst="rect">
            <a:avLst/>
          </a:prstGeom>
          <a:solidFill>
            <a:srgbClr val="1B24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057400"/>
            <a:ext cx="1737360" cy="502920"/>
          </a:xfrm>
          <a:prstGeom prst="rect">
            <a:avLst/>
          </a:prstGeom>
          <a:solidFill>
            <a:srgbClr val="1B24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flight Delayed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2057400"/>
            <a:ext cx="1737360" cy="502920"/>
          </a:xfrm>
          <a:prstGeom prst="rect">
            <a:avLst/>
          </a:prstGeom>
          <a:solidFill>
            <a:srgbClr val="1B24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flight OnTime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560320"/>
            <a:ext cx="1828800" cy="50292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OnTime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2560320"/>
            <a:ext cx="1737360" cy="50292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75520" y="2560320"/>
            <a:ext cx="1737360" cy="50292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0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3063240"/>
            <a:ext cx="1828800" cy="50292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063240"/>
            <a:ext cx="1737360" cy="502920"/>
          </a:xfrm>
          <a:prstGeom prst="rect">
            <a:avLst/>
          </a:prstGeom>
          <a:solidFill>
            <a:srgbClr val="FBEF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875520" y="3063240"/>
            <a:ext cx="1737360" cy="502920"/>
          </a:xfrm>
          <a:prstGeom prst="rect">
            <a:avLst/>
          </a:prstGeom>
          <a:solidFill>
            <a:srgbClr val="FBEF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7947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delayed flight makes the next flight on that aircraft 4.3× more likely to also be delayed.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4617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the same trained model in reverse: 81.2% of observed delays are diagnosed as inherited from the prior flight, not freshly caused.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PR INFERENCE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inference via Variable Elimination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CLASS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inference — Variable Elimination (pgmpy). No sampling or approximation; probabilities are computed directly from the learned joint distribution.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TWO DIRECTIONS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trained network answers forward queries (given conditions, what's the risk?) and backward queries (given a delay, what caused it?) — without retraining.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210312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5F6F8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031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0" y="210312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5F6F8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21031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Risk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85632" y="2409444"/>
            <a:ext cx="768096" cy="164592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P(Delay | conditions)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84048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5F6F8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0" y="384048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5F6F8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Risk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85632" y="4146804"/>
            <a:ext cx="768096" cy="164592"/>
          </a:xfrm>
          <a:prstGeom prst="leftArrow">
            <a:avLst/>
          </a:prstGeom>
          <a:solidFill>
            <a:srgbClr val="1B243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754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Backward: P(Cause | observed delay)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PR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network is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DAG is expert-specified from domain knowledge — airline, season, time of day, and origin airport all point into delay risk; current delay points into next-flight delay. Not structure-learned from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45720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34840" y="26974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 tables are learned with a Discrete Bayesian Estimator using a BDeu prior — Bayesian parameter estimation, not maximum likelihood, so sparse condition combinations don't produce extreme, unreliable probabilities.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21040" y="1965960"/>
            <a:ext cx="45720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discipline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21040" y="26974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was verified for real, non-synthetic signal before training — checking that outcome rates genuinely shift across conditions — and classes were balanced by real undersampling, never synthetic oversampling.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INTERVENTION &amp; WHAT-IF REASONING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of Information: what's worth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first?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Shannon entropy over the base network, we rank how much each unknown factor would reduce uncertainty about a flight's delay risk, before that factor is even known.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of day is nearly 3.5× more informative than the next-best factor — and the clearest single question to ask about an unknown flight.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126480" y="196596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COMBINING WITH MODERN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kept interpretable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does not combine the Bayesian Network with a deep learning or black-box component. The reasoning stays fully transparent — every probability traces back to a conditional probability table you can inspect, not a weight matrix.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embedding of finer-grained weather or airport-congestion signals could feed into the network as an additional node — without disturbing the interpretability of the reasoning layer itself.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in terms of 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0058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4206240" cy="566928"/>
          </a:xfrm>
          <a:prstGeom prst="rect">
            <a:avLst/>
          </a:prstGeom>
          <a:solidFill>
            <a:srgbClr val="1B2430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828800"/>
            <a:ext cx="4572000" cy="566928"/>
          </a:xfrm>
          <a:prstGeom prst="rect">
            <a:avLst/>
          </a:prstGeom>
          <a:solidFill>
            <a:srgbClr val="1B2430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8288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26880" y="1828800"/>
            <a:ext cx="2194560" cy="566928"/>
          </a:xfrm>
          <a:prstGeom prst="rect">
            <a:avLst/>
          </a:prstGeom>
          <a:solidFill>
            <a:srgbClr val="1B2430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64040" y="18288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957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 risk (base BN)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2395728"/>
            <a:ext cx="4572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3957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33% random baseline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0" y="2395728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23957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42062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626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cascade propagation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2962656"/>
            <a:ext cx="457200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6265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 on next flight, delayed vs. on-time current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0" y="2962656"/>
            <a:ext cx="219456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29626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48.2% vs 11.2%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529584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5295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backward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3529584"/>
            <a:ext cx="4572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5295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delays inherited from prior flight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326880" y="3529584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35295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096512"/>
            <a:ext cx="42062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0965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value of information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4096512"/>
            <a:ext cx="457200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0965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single-factor entropy reduction (Time of Day)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326880" y="4096512"/>
            <a:ext cx="219456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64040" y="40965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0.0209 bits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4983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objectives from Slide 6 have working, evaluated results — remaining work is the web interface and write-up.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TIMELINE FOR PROJECT COMPLETION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done, what's left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377440"/>
            <a:ext cx="10149840" cy="0"/>
          </a:xfrm>
          <a:prstGeom prst="line">
            <a:avLst/>
          </a:prstGeom>
          <a:noFill/>
          <a:ln w="38100">
            <a:solidFill>
              <a:srgbClr val="D8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231136"/>
            <a:ext cx="292608" cy="292608"/>
          </a:xfrm>
          <a:prstGeom prst="ellipse">
            <a:avLst/>
          </a:prstGeom>
          <a:solidFill>
            <a:srgbClr val="D9A441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Base 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22376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52344" y="2231136"/>
            <a:ext cx="292608" cy="292608"/>
          </a:xfrm>
          <a:prstGeom prst="ellipse">
            <a:avLst/>
          </a:prstGeom>
          <a:solidFill>
            <a:srgbClr val="D9A441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Layer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21408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82312" y="2231136"/>
            <a:ext cx="292608" cy="292608"/>
          </a:xfrm>
          <a:prstGeom prst="ellipse">
            <a:avLst/>
          </a:prstGeom>
          <a:solidFill>
            <a:srgbClr val="D9A441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1376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Reasoning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51376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2231136"/>
            <a:ext cx="292608" cy="292608"/>
          </a:xfrm>
          <a:prstGeom prst="ellipse">
            <a:avLst/>
          </a:prstGeom>
          <a:solidFill>
            <a:srgbClr val="D9A441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Information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81344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42248" y="22311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11312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872216" y="22311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10344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Write-up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10344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deliverable: a Streamlit web app querying all three trained reasoning layers — forward, cascade, and backward.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and Delay Propagation Analysis Based on Bayesian Network. ResearchGate.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7919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791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Characterization of delay propagation in the air traffic network. ScienceDirect, 2021.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9242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39242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Wu, C., Law, K. (2019). Modelling the delay propagation effects of multiple resource connections in an airline network using a Bayesian network model. Transportation Research Part E, 122, 62–77.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10565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10565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of Research on Flight Delay Propagation: Current Situation and Prospect. Journal of Advanced Transportation, Wiley, 2025.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81888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8188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Department of Transportation — 2015 Flight Delays and Cancellations Dataset (Kaggle: usdot/flight-delays).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2026-08-12T15:00:12Z</dcterms:created>
  <dcterms:modified xsi:type="dcterms:W3CDTF">2026-08-12T15:00:12Z</dcterms:modified>
</cp:coreProperties>
</file>