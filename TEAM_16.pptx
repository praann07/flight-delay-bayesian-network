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95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24666373_Flight_delay_and_delay_propagation_analysis_based_on_Bayesian_network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onlinelibrary.wiley.com/doi/pdfdirect/10.1155/atr/4851103" TargetMode="External"/><Relationship Id="rId5" Type="http://schemas.openxmlformats.org/officeDocument/2006/relationships/hyperlink" Target="https://www.sciencedirect.com/science/article/abs/pii/S1366554517309857" TargetMode="External"/><Relationship Id="rId4" Type="http://schemas.openxmlformats.org/officeDocument/2006/relationships/hyperlink" Target="https://www.sciencedirect.com/science/article/abs/pii/S096969972100058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ng.com/ck/a?!&amp;&amp;p=7af518bd2f578c6fbc23788a4f1151b52a6bd8dac8d3e027b717650688ef43b0JmltdHM9MTc4NjY2NTYwMA&amp;ptn=3&amp;ver=2&amp;hsh=4&amp;fclid=27ccbcfa-c23f-6c28-2e0a-ab58c36d6d32&amp;psq=US+Department+of+Transportation+%e2%80%94+2015+Flight+Delays+and+Cancellations+Dataset+(Kaggle%3a+usdot%2fflight-delays).&amp;u=a1aHR0cHM6Ly93d3cua2FnZ2xlLmNvbS9kYXRhc2V0cy91c2RvdC9mbGlnaHQtZGVsYXlz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901435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579120" y="1997838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Delay Risk Assessment and Cascade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using Bayesian Networks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14083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Estimating flight delay risk and diagnosing how delays propagate between connected flights, using a Bayesian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3880" y="3788722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2252" y="4028303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 — Review 1 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Course 22AIE301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9120" y="451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859280" y="451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Mamidala Som Praneeth Babu   CB.SC.U4AIE24029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59280" y="4864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Charith Dasari   CB.SC.U4AIE24014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9120" y="5294640"/>
            <a:ext cx="33200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16</a:t>
            </a:r>
            <a:endParaRPr lang="en-US" sz="2000" dirty="0"/>
          </a:p>
        </p:txBody>
      </p:sp>
      <p:pic>
        <p:nvPicPr>
          <p:cNvPr id="12" name="Picture 11" descr="Branding - Amrita Vishwa Vidyapeetham">
            <a:extLst>
              <a:ext uri="{FF2B5EF4-FFF2-40B4-BE49-F238E27FC236}">
                <a16:creationId xmlns:a16="http://schemas.microsoft.com/office/drawing/2014/main" id="{E774EE1B-F1D5-0264-EB11-95E7226DB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349" y="160826"/>
            <a:ext cx="7679235" cy="17406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and passengers can usually check if a specific flight is running late. What is harder to see is how that delay moves through the system — the same aircraft flies several times a day, so a delay on one flight can push into the next flight, and the one after that.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system that estimates delay risk from real flight conditions, and traces how that risk carries over to the next flight on the same aircraft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Bayesian Networks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problem is naturally about reasoning under uncertainty — we don't know for certain if a flight will be delayed, only how likely it is given what we observe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more than prediction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trained model can be asked in reverse — given a flight was delayed, was it caused fresh, or inherited from an earlier flight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a flight's delay risk is not just about its own conditions — it also depends on what already happened earlier that day, on that same aircraft.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97680" cy="896112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17320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846320" y="1417320"/>
            <a:ext cx="3931920" cy="896112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417320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778240" y="1417320"/>
            <a:ext cx="2834640" cy="896112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15400" y="1417320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4297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1343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Flight Delay and Delay Propagation Analysis Based on Bayesian Network (ResearchGate)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6320" y="2313432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31343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delay distributions using a BN on the same DOT-style flight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78240" y="2313432"/>
            <a:ext cx="28346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313432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error metrics only — no live, queryable tool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209544"/>
            <a:ext cx="4297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09544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Characterization of Delay Propagation in Air Traffic Networks (ScienceDirect, 2021)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3209544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209544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delay into 'primary' (caused fresh) vs 'propagated' (inherited)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3209544"/>
            <a:ext cx="28346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3209544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offline network analysis, not per-flight diagnosis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05656"/>
            <a:ext cx="4297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Text 20"/>
          <p:cNvSpPr/>
          <p:nvPr/>
        </p:nvSpPr>
        <p:spPr>
          <a:xfrm>
            <a:off x="685800" y="4105656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Wu &amp; Law (2019), Transportation Research Part 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46320" y="4105656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4105656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delay propagation through shared aircraft/crew connections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8240" y="4105656"/>
            <a:ext cx="28346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0" y="4105656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airline-level patterns, not a single flight's risk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01768"/>
            <a:ext cx="429768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01768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A Review of Research on Flight Delay Propagation (Wiley, 2025)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5001768"/>
            <a:ext cx="393192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5001768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BN-based propagation work; confirms it's an active research area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78240" y="5001768"/>
            <a:ext cx="283464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15400" y="500176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— doesn't build or test a model itself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0172" y="65277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1508760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risk from real flight conditions — airline, season, time of day, origin airport.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377440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cascade propagation — how one flight's delay affects the delay probability of the next flight flown by the same aircraft.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246120"/>
            <a:ext cx="10195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delay backward — given an observed delay, infer whether it was inherited from an earlier flight or newly caused.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41605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delay-rate breakdowns from the 5.8M-flight dataset — checked before choosing which variables go into the network.</a:t>
            </a:r>
            <a:endParaRPr lang="en-US" sz="1300" dirty="0"/>
          </a:p>
        </p:txBody>
      </p:sp>
      <p:pic>
        <p:nvPicPr>
          <p:cNvPr id="4" name="Image 0" descr="eda_images/02_delay_by_air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114" y="1463040"/>
            <a:ext cx="3777720" cy="1874520"/>
          </a:xfrm>
          <a:prstGeom prst="rect">
            <a:avLst/>
          </a:prstGeom>
        </p:spPr>
      </p:pic>
      <p:pic>
        <p:nvPicPr>
          <p:cNvPr id="5" name="Image 1" descr="eda_images/05_delay_by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874" y="1463040"/>
            <a:ext cx="3783531" cy="1874520"/>
          </a:xfrm>
          <a:prstGeom prst="rect">
            <a:avLst/>
          </a:prstGeom>
        </p:spPr>
      </p:pic>
      <p:pic>
        <p:nvPicPr>
          <p:cNvPr id="6" name="Image 2" descr="eda_images/03_delay_by_mon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979" y="3566160"/>
            <a:ext cx="3137562" cy="155448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77240" y="5440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ranking here (Airline 19.2pp &gt; Time of Day 14.4pp &gt; Month 10.6pp &gt; Day Type 2.9pp) matches the Value of Information ranking on the Decision / What-If slide (Time of Day highest, Day Type lowest) — two independent checks agree.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Overall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reasoning module used: a Discrete Bayesian Network (pgmpy), built over categorical flight-condition variables.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65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flight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(US DOT)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14600" y="1943100"/>
            <a:ext cx="2286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1554480"/>
            <a:ext cx="1965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943100"/>
            <a:ext cx="2286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54480"/>
            <a:ext cx="1965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Bayesian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03720" y="1943100"/>
            <a:ext cx="2286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1554480"/>
            <a:ext cx="1965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1943100"/>
            <a:ext cx="2286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1554480"/>
            <a:ext cx="19659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1554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(forward &amp; backward)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5.8M flights, verified for real signal before 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Airline, season, time of day, origin, delay category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/ Season / Time / Origin → Delay risk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13232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Same-aircraft consecutive flights linked by tail number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0" y="24688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Elimination — exact inference, both directions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478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Bayesian Network — edges labeled with real delay-rate spread from EDA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98280" y="4517136"/>
            <a:ext cx="8229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98280" y="45171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76855" y="3739896"/>
            <a:ext cx="621619" cy="4754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6"/>
          <p:cNvSpPr/>
          <p:nvPr/>
        </p:nvSpPr>
        <p:spPr>
          <a:xfrm>
            <a:off x="457200" y="38313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52344" y="3977640"/>
            <a:ext cx="6345936" cy="95097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66617" y="401129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70760" y="4215384"/>
            <a:ext cx="481584" cy="4754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3068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52344" y="4453128"/>
            <a:ext cx="6345936" cy="475488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617" y="440594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76856" y="4690872"/>
            <a:ext cx="475488" cy="4754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823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/ Season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52344" y="4928616"/>
            <a:ext cx="6345936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617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32410" y="5157561"/>
            <a:ext cx="475488" cy="4754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257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Airport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V="1">
            <a:off x="2752344" y="4928616"/>
            <a:ext cx="6345936" cy="475488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617" y="519525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350008" y="5719572"/>
            <a:ext cx="475488" cy="4754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4" name="Text 42"/>
          <p:cNvSpPr/>
          <p:nvPr/>
        </p:nvSpPr>
        <p:spPr>
          <a:xfrm>
            <a:off x="457200" y="57332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flipV="1">
            <a:off x="2752344" y="4928616"/>
            <a:ext cx="6345936" cy="95097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617" y="558991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Bayesian Network — Concept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network (previous slide) scores one flight at one point in time, using 5 condition nodes.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Cascading Bayesian Network is a second, separate model ( just 2 nodes ) that links a flight's delay outcome to the delay outcome of the next flight flown by the same aircraft.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network structure: 2 nodes (CURRENT_DELAY, NEXT_DELAY), each with 2 states (Delayed / OnTime), 1 directed edge.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59152" y="2862072"/>
            <a:ext cx="1133856" cy="11338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9152" y="286207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28032" y="2862072"/>
            <a:ext cx="1133856" cy="11338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8032" y="2862072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3008" y="3429000"/>
            <a:ext cx="1335024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4178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{Delayed, OnTime}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43216" y="3099816"/>
            <a:ext cx="658368" cy="658368"/>
          </a:xfrm>
          <a:prstGeom prst="ellipse">
            <a:avLst/>
          </a:prstGeom>
          <a:solidFill>
            <a:srgbClr val="1B3A5C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4321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69480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01584" y="3429000"/>
            <a:ext cx="484632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86216" y="30998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244584" y="3429000"/>
            <a:ext cx="484632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30998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2921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55480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387584" y="3429000"/>
            <a:ext cx="484632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72216" y="30998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72216" y="30998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98480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edge, applied repeatedly across one aircraft's day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212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is one trained joint probability model, it can be queried forward (what's the risk?) or backward (what caused it?) without retraining.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Bayesian Network — On Our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3400" y="884121"/>
            <a:ext cx="10320643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US Department of Transportation — 2015 Flight Delays and Cancellations Dataset (Kaggle: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usdot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/flight-delays).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9639" y="1484433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grouped as  5.8M flights by tail number — 4,897 real aircraft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9161" y="1962034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each aircraft's flights by date and scheduled departure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3922" y="2482596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each flight with the next one flown by that aircraft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3922" y="2972921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both legs On Time / Delayed, keep only complete pairs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077095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5,724,299 real chained flight pairs — no synthetic rows.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CPT (from data)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96000" y="2598406"/>
            <a:ext cx="182880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160" y="259840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CURRENT_DELAY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24800" y="2598406"/>
            <a:ext cx="178308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61960" y="25984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Delayed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07880" y="2598406"/>
            <a:ext cx="178308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5040" y="25984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OnTime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96000" y="3055606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160" y="305560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24800" y="3055606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1960" y="30556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07880" y="3055606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45040" y="30556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96000" y="3512806"/>
            <a:ext cx="1828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3160" y="351280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24800" y="3512806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1960" y="35128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48.2%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707880" y="3512806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45040" y="351280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994419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delayed flight is about 4.3× more likely to be followed by another delay.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67983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974336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reading a query off the trained network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3400" y="5329874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query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Aircraft N407AS departs delayed on its first leg.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P(NEXT_DELAY | CURRENT_DELAY = Delayed) → looks up the CPT row above → 48.2% Delayed, 51.8% OnTime for its next leg.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query</a:t>
            </a: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later flight on some aircraft is observed Delayed. 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P(CURRENT_DELAY | NEXT_DELAY = Delayed) → same table, read in reverse → 81.2% the earlier flight was also delayed, 18.8% it was fresh.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 Inference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used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Variable Elimination, from pgmpy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exact inference; </a:t>
            </a:r>
            <a:b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 are computed directly from the learned joint distribution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used here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trained network answers forward queries (given conditions, what's the risk?) and backward queries (given a delay, what caused it?)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0" y="1463040"/>
            <a:ext cx="19202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509760" y="1463040"/>
            <a:ext cx="19202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0" y="14630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595360" y="1828800"/>
            <a:ext cx="9144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331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</a:t>
            </a:r>
            <a:r>
              <a:rPr lang="en-IN" sz="1100" dirty="0"/>
              <a:t>P(flight is </a:t>
            </a:r>
            <a:r>
              <a:rPr lang="en-IN" sz="1100" dirty="0" err="1"/>
              <a:t>delayed∣known</a:t>
            </a:r>
            <a:r>
              <a:rPr lang="en-IN" sz="1100" dirty="0"/>
              <a:t> conditions)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3063240"/>
            <a:ext cx="19202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0" y="3063240"/>
            <a:ext cx="192024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40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30632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0" y="3429000"/>
            <a:ext cx="9144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931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</a:t>
            </a:r>
            <a:r>
              <a:rPr lang="en-IN" sz="1100" dirty="0"/>
              <a:t>P(likely </a:t>
            </a:r>
            <a:r>
              <a:rPr lang="en-IN" sz="1100" dirty="0" err="1"/>
              <a:t>cause∣delay</a:t>
            </a:r>
            <a:r>
              <a:rPr lang="en-IN" sz="1100" dirty="0"/>
              <a:t> already observed)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PR Learning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DAG is expert-specified from domain knowledge (airline, season, time, origin all point to delay; current delay points to next-flight delay)  not learned from data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Probability Tables(CPT) are learned using a Discrete Bayesian Estimator with a BDeu prior </a:t>
            </a:r>
            <a:b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Bayesian estimation, not plain counting, so rare condition combinations don't produce extreme probabilities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discipline</a:t>
            </a: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dataset was checked for real signal before training, and classes were balanced by real undersampling, not synthetic oversampling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Decision / What-If (Value of Information)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entropy over the base network, we rank how much each unknown factor would reduce uncertainty about a flight's delay risk — i.e. what's most worth knowing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283464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2606040"/>
            <a:ext cx="2468880" cy="45720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2606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(bits)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306324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0.0209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352044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0.0061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83280" y="397764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Airport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443484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2834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92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83280" y="4892040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09360" y="1371600"/>
            <a:ext cx="5349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15087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 is nearly 3.5× more informative than the next-best factor — the single most useful thing to ask about an unknown flight.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33BC969A-9B85-4EE9-A0E2-B07C7CD52AA2}"/>
              </a:ext>
            </a:extLst>
          </p:cNvPr>
          <p:cNvSpPr/>
          <p:nvPr/>
        </p:nvSpPr>
        <p:spPr>
          <a:xfrm>
            <a:off x="6339842" y="3266763"/>
            <a:ext cx="534924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1DE0FF-2D28-4AA2-5A7C-92576BC0FF7B}"/>
              </a:ext>
            </a:extLst>
          </p:cNvPr>
          <p:cNvSpPr txBox="1"/>
          <p:nvPr/>
        </p:nvSpPr>
        <p:spPr>
          <a:xfrm>
            <a:off x="6650966" y="3666226"/>
            <a:ext cx="4779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+mj-lt"/>
              </a:rPr>
              <a:t>Information Gain=H(Delay)−H(</a:t>
            </a:r>
            <a:r>
              <a:rPr lang="en-IN" sz="1600" dirty="0" err="1">
                <a:latin typeface="+mj-lt"/>
              </a:rPr>
              <a:t>Delay∣Factor</a:t>
            </a:r>
            <a:r>
              <a:rPr lang="en-IN" sz="1600" dirty="0">
                <a:latin typeface="+mj-lt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Combining with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 project does not combine the Bayesian Network with any machine learning or deep learning models,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probability traces back to a conditional probability table that can be inspected directly.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signal for better  weather or airport-congestion data could feed in as an additional node, without changing the interpretability of the reasoning layer itself.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in terms of 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437161" y="1503584"/>
            <a:ext cx="3291840" cy="621792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4321" y="150358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29001" y="1503584"/>
            <a:ext cx="6035040" cy="621792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66161" y="150358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37161" y="2125376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4321" y="212537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delay risk (base BN)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29001" y="2125376"/>
            <a:ext cx="6035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6161" y="2125376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evaluated — 68% accuracy vs 33% random baseline to check if BN is working or not…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12680" y="2039112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437161" y="2747168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74321" y="274716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cascade propagation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9001" y="2747168"/>
            <a:ext cx="6035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6161" y="2747168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5.7M real chained flight pairs — 48.2% vs 11.2%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12680" y="2660904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37161" y="3368960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4321" y="33689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backward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29001" y="3368960"/>
            <a:ext cx="6035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6161" y="336896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query on cascade model — 81.2% inherited delays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12680" y="3282696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37161" y="3990752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74321" y="399075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29001" y="3990752"/>
            <a:ext cx="6035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6161" y="3990752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12680" y="3904488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37161" y="4612544"/>
            <a:ext cx="32918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74321" y="46125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write-up + deployment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29001" y="4612544"/>
            <a:ext cx="6035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6161" y="4612544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12680" y="4526280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Timeline for Project Completion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77440" cy="77724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4630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463040"/>
            <a:ext cx="8686800" cy="777240"/>
          </a:xfrm>
          <a:prstGeom prst="rect">
            <a:avLst/>
          </a:prstGeom>
          <a:solidFill>
            <a:srgbClr val="1B3A5C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14630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402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so far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2240280"/>
            <a:ext cx="8686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2402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verification, base BN, cascade BN, backward reasoning, value of information, working Streamlit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3017520"/>
            <a:ext cx="8686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301752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interface, add error handling, test with more scenarios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23774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94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3794760"/>
            <a:ext cx="8686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63240" y="37947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final report and prepare for final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Delay Risk — PR Review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0" y="3703320"/>
            <a:ext cx="395935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Sowmya Mam — </a:t>
            </a:r>
            <a:r>
              <a:rPr lang="en-US" sz="16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Probablistic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Reasoning (2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22AIE301</a:t>
            </a: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1640</Words>
  <Application>Microsoft Office PowerPoint</Application>
  <PresentationFormat>Widescreen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MAMIDALA SOM PRANEETH BABU - [CB.SC.U4AIE24029]</cp:lastModifiedBy>
  <cp:revision>6</cp:revision>
  <dcterms:created xsi:type="dcterms:W3CDTF">2026-08-14T18:57:36Z</dcterms:created>
  <dcterms:modified xsi:type="dcterms:W3CDTF">2026-08-18T08:49:37Z</dcterms:modified>
</cp:coreProperties>
</file>